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F244C9C9-F647-0288-B008-D635BAA94965}">
          <p14:sldIdLst>
            <p14:sldId id="256"/>
          </p14:sldIdLst>
        </p14:section>
        <p14:section name="Demonstration" id="{EBB4B3FD-8D70-D657-F243-4C4EC2F1A812}">
          <p14:sldIdLst>
            <p14:sldId id="257"/>
          </p14:sldIdLst>
        </p14:section>
        <p14:section name="Modelling" id="{F3DD33CB-1403-74EB-7AE6-2CC55AC06CCB}">
          <p14:sldIdLst>
            <p14:sldId id="258"/>
            <p14:sldId id="259"/>
            <p14:sldId id="260"/>
          </p14:sldIdLst>
        </p14:section>
        <p14:section name="Functionality" id="{6FF63D17-6FCF-8245-D6AE-D89D4AF7CBCB}">
          <p14:sldIdLst>
            <p14:sldId id="261"/>
          </p14:sldIdLst>
        </p14:section>
        <p14:section name="Graphics" id="{EE09486B-30E3-17A4-3DBA-3610C9A8695B}">
          <p14:sldIdLst>
            <p14:sldId id="262"/>
            <p14:sldId id="263"/>
          </p14:sldIdLst>
        </p14:section>
        <p14:section name="Behaviour" id="{1A6E4181-BFC1-2455-F400-2B8350A2576D}">
          <p14:sldIdLst>
            <p14:sldId id="264"/>
          </p14:sldIdLst>
        </p14:section>
        <p14:section name="End" id="{C0D0F3C2-A048-BBCE-0C0C-D3E4257D3B1C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977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rest stop in a jungle clearing, built only from basic shapes (cubes, cylinders, spheres ...) with OpenGL 3.3. Three rooms: lounge with vending machines, coffee and TV; ATM room; library with an aquarium.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chapters (pause at any point to explain):
0:00  The rest stop in its jungle clearing (aerial)
0:07  A visitor arrives by car and parks (NPC, Bezier parking)
0:19  The player walks to the entrance (third person); the sliding doors open
0:28  ATM: insert card, PIN 1234, withdraw Tk 1,000, take card, cash and receipt
0:46  Coffee machine: cappuccino - cup drops, grinding, pouring, steam
0:56  Vending machine: Tk 50 note, code A1, OK, spiral turns, can drops, push flap, take change
1:07  Television: change the channel
1:11  Visitors living in the lounge
1:16  Library: feed the fish, they swim up
1:24  Basic &lt;-&gt; Enhanced rendering (key B)
1:31  Day turns into night (time-lapse)
1:39  Night: the player switches the lounge lights off and on
1:44  A car leaves with its headlights on
1:49  Roof cut-away view of the lit rooms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unit meshes generated in code; the dark lines are their triangles. Every part: M = Mparent * T * R * S. Rotation uses Rx, Ry, Rz or Rodrigues for any axis; normals use (M^-1)^T. Camera: lookAt view matrix; perspective projection for the view, orthographic for the shadow map and the HUD.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Vending machine: 287 basic shapes. (a) complete, (b) every named group pulled away from the centre. The cabinet is static; spirals, products, keys, LEDs, flap and coins are child nodes that move. Coffee machine and the man use the same method; the man's joints are spheres and limbs truncated cones.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ATM: 49 shapes. The keypad shelf is a child node tilted by Rx(12 deg), so the 16 keys follow the slope. Car: door is a child node T(hinge) Ry(angle); wheels spin with Rx and steer with Ry; windows are built from corner points. Tree: 4 buttress roots are wedges turned by Ry(90 i); the crown is leaf cards on an ellipsoid.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machines are state machines driven by the same picking: look at a part and press E. The HUD lists the 8 ATM steps and highlights the current one. Visitors use the same functions, so the ATM screen shows every step when a visitor uses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Illumination model = Blinn-Phong: ambient + diffuse (Lambert, N.L) + specular (N.H)^n with H = normalize(L+V). Attenuation a(d) = clamp(1-(d/r)^4)^2/(1+d^2); spot cone smoothstep. Shading = Phong: normals are interpolated across each triangle and the light is computed for every pixel. Shadows: depth map from the sun, 5-sample PCF.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Textures are generated at start-up from value noise (fbm). Object-space box mapping: u,v from the local position times the object's scale, so a long wall gets more bricks. Leaves use alpha cut-out. Parking: tangents at both ends match the aisle and the spot because B'(0) = 3(P1-P0) and B'(1) = 3(P3-P2).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character is a state machine plus a movement rule. Visitors: reserve, walk with Dijkstra, run the machine's own state machine. Cars: path following by length s, speed limit v &lt;= sqrt(2 a s_left). Fish: x = rx cos(phi), z = rz sin(phi), heading atan2(dx, dz). Birds: wings are child nodes rotated Rz(+-35 sin flap). Fireflies: position wrapped around the camera, blink 0.5+0.5 sin(3t).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teachers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Jungle Rest Stop  |  CSE 4102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12" Type="http://schemas.openxmlformats.org/officeDocument/2006/relationships/image" Target="../media/image12.jpg"/><Relationship Id="rId17" Type="http://schemas.openxmlformats.org/officeDocument/2006/relationships/image" Target="../media/image17.jp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g"/><Relationship Id="rId11" Type="http://schemas.openxmlformats.org/officeDocument/2006/relationships/image" Target="../media/image11.jpg"/><Relationship Id="rId5" Type="http://schemas.openxmlformats.org/officeDocument/2006/relationships/image" Target="../media/image5.jpg"/><Relationship Id="rId15" Type="http://schemas.openxmlformats.org/officeDocument/2006/relationships/image" Target="../media/image15.jp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Relationship Id="rId14" Type="http://schemas.openxmlformats.org/officeDocument/2006/relationships/image" Target="../media/image1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4.jpg"/><Relationship Id="rId7" Type="http://schemas.openxmlformats.org/officeDocument/2006/relationships/image" Target="../media/image2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2.jpg"/><Relationship Id="rId4" Type="http://schemas.openxmlformats.org/officeDocument/2006/relationships/image" Target="../media/image35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g"/><Relationship Id="rId3" Type="http://schemas.openxmlformats.org/officeDocument/2006/relationships/image" Target="../media/image37.jpg"/><Relationship Id="rId7" Type="http://schemas.openxmlformats.org/officeDocument/2006/relationships/image" Target="../media/image4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 image" descr="C:\Users\Nayeem\AppData\Local\Temp\claude\C--Users-Nayeem-Desktop-4-1-image-lab-opengl-project\6ae5ff8c-eb33-4098-ae03-b0630aa742b0\scratchpad\deck/assets/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6476695" cy="6858000"/>
          </a:xfrm>
          <a:prstGeom prst="rect">
            <a:avLst/>
          </a:prstGeom>
        </p:spPr>
      </p:pic>
      <p:sp>
        <p:nvSpPr>
          <p:cNvPr id="3" name="Course"/>
          <p:cNvSpPr txBox="1"/>
          <p:nvPr/>
        </p:nvSpPr>
        <p:spPr>
          <a:xfrm>
            <a:off x="548640" y="502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CSE 4102  |  Computer Graphics and Image Processing Laboratory</a:t>
            </a:r>
            <a:endParaRPr lang="en-US" sz="12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12344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Jungle Rest Stop</a:t>
            </a:r>
            <a:endParaRPr lang="en-US" sz="4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2240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E6DC"/>
                </a:solidFill>
              </a:rPr>
              <a:t>An interactive 3D scene built only from basic shapes with OpenGL 3.3</a:t>
            </a:r>
            <a:endParaRPr lang="en-US" sz="1800" dirty="0"/>
          </a:p>
        </p:txBody>
      </p:sp>
      <p:sp>
        <p:nvSpPr>
          <p:cNvPr id="6" name="Tagline"/>
          <p:cNvSpPr txBox="1"/>
          <p:nvPr/>
        </p:nvSpPr>
        <p:spPr>
          <a:xfrm>
            <a:off x="54864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vending machine  ·  ATM  ·  coffee machine  ·  library</a:t>
            </a:r>
            <a:endParaRPr lang="en-US" sz="1400" dirty="0"/>
          </a:p>
        </p:txBody>
      </p:sp>
      <p:sp>
        <p:nvSpPr>
          <p:cNvPr id="7" name="Submitted by"/>
          <p:cNvSpPr txBox="1"/>
          <p:nvPr/>
        </p:nvSpPr>
        <p:spPr>
          <a:xfrm>
            <a:off x="548640" y="39776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3"/>
                </a:solidFill>
              </a:rPr>
              <a:t>SUBMITTED BY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Md. Nayeem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9E6DC"/>
                </a:solidFill>
              </a:rPr>
              <a:t>Roll: 2107050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9E6DC"/>
                </a:solidFill>
              </a:rPr>
              <a:t>Dept. of CSE, KUET</a:t>
            </a:r>
            <a:endParaRPr lang="en-US" sz="1100" dirty="0"/>
          </a:p>
        </p:txBody>
      </p:sp>
      <p:sp>
        <p:nvSpPr>
          <p:cNvPr id="8" name="Submitted to"/>
          <p:cNvSpPr txBox="1"/>
          <p:nvPr/>
        </p:nvSpPr>
        <p:spPr>
          <a:xfrm>
            <a:off x="2788920" y="39776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3"/>
                </a:solidFill>
              </a:rPr>
              <a:t>SUBMITTED TO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Md Tajmilur Rahman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9E6DC"/>
                </a:solidFill>
              </a:rPr>
              <a:t>Lecturer, Dept. of CSE, KUET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Md. Mubtashim Abrar Nihal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9E6DC"/>
                </a:solidFill>
              </a:rPr>
              <a:t>Lecturer, Dept. of CSE, KUET</a:t>
            </a:r>
            <a:endParaRPr lang="en-US" sz="1100" dirty="0"/>
          </a:p>
        </p:txBody>
      </p:sp>
      <p:sp>
        <p:nvSpPr>
          <p:cNvPr id="9" name="Date"/>
          <p:cNvSpPr txBox="1"/>
          <p:nvPr/>
        </p:nvSpPr>
        <p:spPr>
          <a:xfrm>
            <a:off x="548640" y="6126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12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Demo 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Shapes and Transformations</a:t>
            </a:r>
            <a:endParaRPr lang="en-US" sz="3200" dirty="0"/>
          </a:p>
        </p:txBody>
      </p:sp>
      <p:pic>
        <p:nvPicPr>
          <p:cNvPr id="3" name="Shape cube" descr="C:/Users/Nayeem/Desktop/4-1/image lab/opengl-project/report/figures/shape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98448"/>
            <a:ext cx="1280160" cy="1280160"/>
          </a:xfrm>
          <a:prstGeom prst="rect">
            <a:avLst/>
          </a:prstGeom>
        </p:spPr>
      </p:pic>
      <p:sp>
        <p:nvSpPr>
          <p:cNvPr id="4" name="Shape name cube"/>
          <p:cNvSpPr txBox="1"/>
          <p:nvPr/>
        </p:nvSpPr>
        <p:spPr>
          <a:xfrm>
            <a:off x="548640" y="2596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cube</a:t>
            </a:r>
            <a:endParaRPr lang="en-US" sz="1200" dirty="0"/>
          </a:p>
        </p:txBody>
      </p:sp>
      <p:pic>
        <p:nvPicPr>
          <p:cNvPr id="5" name="Shape cylinder" descr="C:/Users/Nayeem/Desktop/4-1/image lab/opengl-project/report/figures/shape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1298448"/>
            <a:ext cx="1280160" cy="1280160"/>
          </a:xfrm>
          <a:prstGeom prst="rect">
            <a:avLst/>
          </a:prstGeom>
        </p:spPr>
      </p:pic>
      <p:sp>
        <p:nvSpPr>
          <p:cNvPr id="6" name="Shape name cylinder"/>
          <p:cNvSpPr txBox="1"/>
          <p:nvPr/>
        </p:nvSpPr>
        <p:spPr>
          <a:xfrm>
            <a:off x="2011680" y="2596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cylinder</a:t>
            </a:r>
            <a:endParaRPr lang="en-US" sz="1200" dirty="0"/>
          </a:p>
        </p:txBody>
      </p:sp>
      <p:pic>
        <p:nvPicPr>
          <p:cNvPr id="7" name="Shape sphere" descr="C:/Users/Nayeem/Desktop/4-1/image lab/opengl-project/report/figures/shape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1298448"/>
            <a:ext cx="1280160" cy="1280160"/>
          </a:xfrm>
          <a:prstGeom prst="rect">
            <a:avLst/>
          </a:prstGeom>
        </p:spPr>
      </p:pic>
      <p:sp>
        <p:nvSpPr>
          <p:cNvPr id="8" name="Shape name sphere"/>
          <p:cNvSpPr txBox="1"/>
          <p:nvPr/>
        </p:nvSpPr>
        <p:spPr>
          <a:xfrm>
            <a:off x="3474720" y="2596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sphere</a:t>
            </a:r>
            <a:endParaRPr lang="en-US" sz="1200" dirty="0"/>
          </a:p>
        </p:txBody>
      </p:sp>
      <p:pic>
        <p:nvPicPr>
          <p:cNvPr id="9" name="Shape cone" descr="C:/Users/Nayeem/Desktop/4-1/image lab/opengl-project/report/figures/shape_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298448"/>
            <a:ext cx="1280160" cy="1280160"/>
          </a:xfrm>
          <a:prstGeom prst="rect">
            <a:avLst/>
          </a:prstGeom>
        </p:spPr>
      </p:pic>
      <p:sp>
        <p:nvSpPr>
          <p:cNvPr id="10" name="Shape name cone"/>
          <p:cNvSpPr txBox="1"/>
          <p:nvPr/>
        </p:nvSpPr>
        <p:spPr>
          <a:xfrm>
            <a:off x="4937760" y="2596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cone</a:t>
            </a:r>
            <a:endParaRPr lang="en-US" sz="1200" dirty="0"/>
          </a:p>
        </p:txBody>
      </p:sp>
      <p:pic>
        <p:nvPicPr>
          <p:cNvPr id="11" name="Shape truncated cone" descr="C:/Users/Nayeem/Desktop/4-1/image lab/opengl-project/report/figures/shape_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1298448"/>
            <a:ext cx="1280160" cy="1280160"/>
          </a:xfrm>
          <a:prstGeom prst="rect">
            <a:avLst/>
          </a:prstGeom>
        </p:spPr>
      </p:pic>
      <p:sp>
        <p:nvSpPr>
          <p:cNvPr id="12" name="Shape name truncated cone"/>
          <p:cNvSpPr txBox="1"/>
          <p:nvPr/>
        </p:nvSpPr>
        <p:spPr>
          <a:xfrm>
            <a:off x="6400800" y="2596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truncated cone</a:t>
            </a:r>
            <a:endParaRPr lang="en-US" sz="1200" dirty="0"/>
          </a:p>
        </p:txBody>
      </p:sp>
      <p:pic>
        <p:nvPicPr>
          <p:cNvPr id="13" name="Shape torus" descr="C:/Users/Nayeem/Desktop/4-1/image lab/opengl-project/report/figures/shape_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2990088"/>
            <a:ext cx="1280160" cy="1280160"/>
          </a:xfrm>
          <a:prstGeom prst="rect">
            <a:avLst/>
          </a:prstGeom>
        </p:spPr>
      </p:pic>
      <p:sp>
        <p:nvSpPr>
          <p:cNvPr id="14" name="Shape name torus"/>
          <p:cNvSpPr txBox="1"/>
          <p:nvPr/>
        </p:nvSpPr>
        <p:spPr>
          <a:xfrm>
            <a:off x="548640" y="4288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torus</a:t>
            </a:r>
            <a:endParaRPr lang="en-US" sz="1200" dirty="0"/>
          </a:p>
        </p:txBody>
      </p:sp>
      <p:pic>
        <p:nvPicPr>
          <p:cNvPr id="15" name="Shape hemisphere" descr="C:/Users/Nayeem/Desktop/4-1/image lab/opengl-project/report/figures/shape_8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3120" y="2990088"/>
            <a:ext cx="1280160" cy="1280160"/>
          </a:xfrm>
          <a:prstGeom prst="rect">
            <a:avLst/>
          </a:prstGeom>
        </p:spPr>
      </p:pic>
      <p:sp>
        <p:nvSpPr>
          <p:cNvPr id="16" name="Shape name hemisphere"/>
          <p:cNvSpPr txBox="1"/>
          <p:nvPr/>
        </p:nvSpPr>
        <p:spPr>
          <a:xfrm>
            <a:off x="2011680" y="4288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hemisphere</a:t>
            </a:r>
            <a:endParaRPr lang="en-US" sz="1200" dirty="0"/>
          </a:p>
        </p:txBody>
      </p:sp>
      <p:pic>
        <p:nvPicPr>
          <p:cNvPr id="17" name="Shape wedge" descr="C:/Users/Nayeem/Desktop/4-1/image lab/opengl-project/report/figures/shape_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6160" y="2990088"/>
            <a:ext cx="1280160" cy="1280160"/>
          </a:xfrm>
          <a:prstGeom prst="rect">
            <a:avLst/>
          </a:prstGeom>
        </p:spPr>
      </p:pic>
      <p:sp>
        <p:nvSpPr>
          <p:cNvPr id="18" name="Shape name wedge"/>
          <p:cNvSpPr txBox="1"/>
          <p:nvPr/>
        </p:nvSpPr>
        <p:spPr>
          <a:xfrm>
            <a:off x="3474720" y="4288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pic>
        <p:nvPicPr>
          <p:cNvPr id="19" name="Shape tapered box" descr="C:/Users/Nayeem/Desktop/4-1/image lab/opengl-project/report/figures/shape_1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2990088"/>
            <a:ext cx="1280160" cy="1280160"/>
          </a:xfrm>
          <a:prstGeom prst="rect">
            <a:avLst/>
          </a:prstGeom>
        </p:spPr>
      </p:pic>
      <p:sp>
        <p:nvSpPr>
          <p:cNvPr id="20" name="Shape name tapered box"/>
          <p:cNvSpPr txBox="1"/>
          <p:nvPr/>
        </p:nvSpPr>
        <p:spPr>
          <a:xfrm>
            <a:off x="4937760" y="4288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tapered box</a:t>
            </a:r>
            <a:endParaRPr lang="en-US" sz="1200" dirty="0"/>
          </a:p>
        </p:txBody>
      </p:sp>
      <p:pic>
        <p:nvPicPr>
          <p:cNvPr id="21" name="Shape quad" descr="C:/Users/Nayeem/Desktop/4-1/image lab/opengl-project/report/figures/shape_1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240" y="2990088"/>
            <a:ext cx="1280160" cy="1280160"/>
          </a:xfrm>
          <a:prstGeom prst="rect">
            <a:avLst/>
          </a:prstGeom>
        </p:spPr>
      </p:pic>
      <p:sp>
        <p:nvSpPr>
          <p:cNvPr id="22" name="Shape name quad"/>
          <p:cNvSpPr txBox="1"/>
          <p:nvPr/>
        </p:nvSpPr>
        <p:spPr>
          <a:xfrm>
            <a:off x="6400800" y="4288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quad</a:t>
            </a:r>
            <a:endParaRPr lang="en-US" sz="1200" dirty="0"/>
          </a:p>
        </p:txBody>
      </p:sp>
      <p:pic>
        <p:nvPicPr>
          <p:cNvPr id="23" name="Shape cross card" descr="C:/Users/Nayeem/Desktop/4-1/image lab/opengl-project/report/figures/shape_1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" y="4681728"/>
            <a:ext cx="1280160" cy="1280160"/>
          </a:xfrm>
          <a:prstGeom prst="rect">
            <a:avLst/>
          </a:prstGeom>
        </p:spPr>
      </p:pic>
      <p:sp>
        <p:nvSpPr>
          <p:cNvPr id="24" name="Shape name cross card"/>
          <p:cNvSpPr txBox="1"/>
          <p:nvPr/>
        </p:nvSpPr>
        <p:spPr>
          <a:xfrm>
            <a:off x="548640" y="59801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cross card</a:t>
            </a:r>
            <a:endParaRPr lang="en-US" sz="1200" dirty="0"/>
          </a:p>
        </p:txBody>
      </p:sp>
      <p:pic>
        <p:nvPicPr>
          <p:cNvPr id="25" name="Shape leaf card" descr="C:/Users/Nayeem/Desktop/4-1/image lab/opengl-project/report/figures/shape_13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03120" y="4681728"/>
            <a:ext cx="1280160" cy="1280160"/>
          </a:xfrm>
          <a:prstGeom prst="rect">
            <a:avLst/>
          </a:prstGeom>
        </p:spPr>
      </p:pic>
      <p:sp>
        <p:nvSpPr>
          <p:cNvPr id="26" name="Shape name leaf card"/>
          <p:cNvSpPr txBox="1"/>
          <p:nvPr/>
        </p:nvSpPr>
        <p:spPr>
          <a:xfrm>
            <a:off x="2011680" y="59801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leaf card</a:t>
            </a:r>
            <a:endParaRPr lang="en-US" sz="1200" dirty="0"/>
          </a:p>
        </p:txBody>
      </p:sp>
      <p:pic>
        <p:nvPicPr>
          <p:cNvPr id="27" name="Shape coil" descr="C:/Users/Nayeem/Desktop/4-1/image lab/opengl-project/report/figures/shape_14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66160" y="4681728"/>
            <a:ext cx="1280160" cy="1280160"/>
          </a:xfrm>
          <a:prstGeom prst="rect">
            <a:avLst/>
          </a:prstGeom>
        </p:spPr>
      </p:pic>
      <p:sp>
        <p:nvSpPr>
          <p:cNvPr id="28" name="Shape name coil"/>
          <p:cNvSpPr txBox="1"/>
          <p:nvPr/>
        </p:nvSpPr>
        <p:spPr>
          <a:xfrm>
            <a:off x="3474720" y="59801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coil</a:t>
            </a:r>
            <a:endParaRPr lang="en-US" sz="1200" dirty="0"/>
          </a:p>
        </p:txBody>
      </p:sp>
      <p:pic>
        <p:nvPicPr>
          <p:cNvPr id="29" name="Shape low cylinder" descr="C:/Users/Nayeem/Desktop/4-1/image lab/opengl-project/report/figures/shape_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29200" y="4681728"/>
            <a:ext cx="1280160" cy="1280160"/>
          </a:xfrm>
          <a:prstGeom prst="rect">
            <a:avLst/>
          </a:prstGeom>
        </p:spPr>
      </p:pic>
      <p:sp>
        <p:nvSpPr>
          <p:cNvPr id="30" name="Shape name low cylinder"/>
          <p:cNvSpPr txBox="1"/>
          <p:nvPr/>
        </p:nvSpPr>
        <p:spPr>
          <a:xfrm>
            <a:off x="4937760" y="59801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low cylinder</a:t>
            </a:r>
            <a:endParaRPr lang="en-US" sz="1200" dirty="0"/>
          </a:p>
        </p:txBody>
      </p:sp>
      <p:pic>
        <p:nvPicPr>
          <p:cNvPr id="31" name="Shape low sphere" descr="C:/Users/Nayeem/Desktop/4-1/image lab/opengl-project/report/figures/shape_4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92240" y="4681728"/>
            <a:ext cx="1280160" cy="1280160"/>
          </a:xfrm>
          <a:prstGeom prst="rect">
            <a:avLst/>
          </a:prstGeom>
        </p:spPr>
      </p:pic>
      <p:sp>
        <p:nvSpPr>
          <p:cNvPr id="32" name="Shape name low sphere"/>
          <p:cNvSpPr txBox="1"/>
          <p:nvPr/>
        </p:nvSpPr>
        <p:spPr>
          <a:xfrm>
            <a:off x="6400800" y="59801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low sphere</a:t>
            </a:r>
            <a:endParaRPr lang="en-US" sz="1200" dirty="0"/>
          </a:p>
        </p:txBody>
      </p:sp>
      <p:sp>
        <p:nvSpPr>
          <p:cNvPr id="33" name="Transform card"/>
          <p:cNvSpPr/>
          <p:nvPr/>
        </p:nvSpPr>
        <p:spPr>
          <a:xfrm>
            <a:off x="8092440" y="1298448"/>
            <a:ext cx="3520440" cy="48463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ransform heading"/>
          <p:cNvSpPr txBox="1"/>
          <p:nvPr/>
        </p:nvSpPr>
        <p:spPr>
          <a:xfrm>
            <a:off x="83210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Transformations used</a:t>
            </a:r>
            <a:endParaRPr lang="en-US" sz="1700" dirty="0"/>
          </a:p>
        </p:txBody>
      </p:sp>
      <p:sp>
        <p:nvSpPr>
          <p:cNvPr id="35" name="Transform dot 0"/>
          <p:cNvSpPr/>
          <p:nvPr/>
        </p:nvSpPr>
        <p:spPr>
          <a:xfrm>
            <a:off x="8321040" y="2039112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Transform Translation"/>
          <p:cNvSpPr txBox="1"/>
          <p:nvPr/>
        </p:nvSpPr>
        <p:spPr>
          <a:xfrm>
            <a:off x="8641080" y="1965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Translation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move a part to its place</a:t>
            </a:r>
            <a:endParaRPr lang="en-US" sz="1500" dirty="0"/>
          </a:p>
        </p:txBody>
      </p:sp>
      <p:sp>
        <p:nvSpPr>
          <p:cNvPr id="37" name="Transform dot 1"/>
          <p:cNvSpPr/>
          <p:nvPr/>
        </p:nvSpPr>
        <p:spPr>
          <a:xfrm>
            <a:off x="8321040" y="2624328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Transform Rotation"/>
          <p:cNvSpPr txBox="1"/>
          <p:nvPr/>
        </p:nvSpPr>
        <p:spPr>
          <a:xfrm>
            <a:off x="8641080" y="255117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Rotation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about x, y, z and any axis</a:t>
            </a:r>
            <a:endParaRPr lang="en-US" sz="1500" dirty="0"/>
          </a:p>
        </p:txBody>
      </p:sp>
      <p:sp>
        <p:nvSpPr>
          <p:cNvPr id="39" name="Transform dot 2"/>
          <p:cNvSpPr/>
          <p:nvPr/>
        </p:nvSpPr>
        <p:spPr>
          <a:xfrm>
            <a:off x="8321040" y="3209544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Transform Scaling"/>
          <p:cNvSpPr txBox="1"/>
          <p:nvPr/>
        </p:nvSpPr>
        <p:spPr>
          <a:xfrm>
            <a:off x="8641080" y="31363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Scaling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size of a part; negative = mirror</a:t>
            </a:r>
            <a:endParaRPr lang="en-US" sz="1500" dirty="0"/>
          </a:p>
        </p:txBody>
      </p:sp>
      <p:sp>
        <p:nvSpPr>
          <p:cNvPr id="41" name="Transform dot 3"/>
          <p:cNvSpPr/>
          <p:nvPr/>
        </p:nvSpPr>
        <p:spPr>
          <a:xfrm>
            <a:off x="8321040" y="3794760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2" name="Transform Composite"/>
          <p:cNvSpPr txBox="1"/>
          <p:nvPr/>
        </p:nvSpPr>
        <p:spPr>
          <a:xfrm>
            <a:off x="8641080" y="372160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Composite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scale, then rotate, then move</a:t>
            </a:r>
            <a:endParaRPr lang="en-US" sz="1500" dirty="0"/>
          </a:p>
        </p:txBody>
      </p:sp>
      <p:sp>
        <p:nvSpPr>
          <p:cNvPr id="43" name="Transform dot 4"/>
          <p:cNvSpPr/>
          <p:nvPr/>
        </p:nvSpPr>
        <p:spPr>
          <a:xfrm>
            <a:off x="8321040" y="4379976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4" name="Transform Hierarchical"/>
          <p:cNvSpPr txBox="1"/>
          <p:nvPr/>
        </p:nvSpPr>
        <p:spPr>
          <a:xfrm>
            <a:off x="8641080" y="43068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Hierarchical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child nodes follow their parent</a:t>
            </a:r>
            <a:endParaRPr lang="en-US" sz="1500" dirty="0"/>
          </a:p>
        </p:txBody>
      </p:sp>
      <p:sp>
        <p:nvSpPr>
          <p:cNvPr id="45" name="Transform dot 5"/>
          <p:cNvSpPr/>
          <p:nvPr/>
        </p:nvSpPr>
        <p:spPr>
          <a:xfrm>
            <a:off x="8321040" y="4965192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6" name="Transform Viewing"/>
          <p:cNvSpPr txBox="1"/>
          <p:nvPr/>
        </p:nvSpPr>
        <p:spPr>
          <a:xfrm>
            <a:off x="8641080" y="4892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Viewing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camera (lookAt)</a:t>
            </a:r>
            <a:endParaRPr lang="en-US" sz="1500" dirty="0"/>
          </a:p>
        </p:txBody>
      </p:sp>
      <p:sp>
        <p:nvSpPr>
          <p:cNvPr id="47" name="Transform dot 6"/>
          <p:cNvSpPr/>
          <p:nvPr/>
        </p:nvSpPr>
        <p:spPr>
          <a:xfrm>
            <a:off x="8321040" y="5550408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8" name="Transform Projection"/>
          <p:cNvSpPr txBox="1"/>
          <p:nvPr/>
        </p:nvSpPr>
        <p:spPr>
          <a:xfrm>
            <a:off x="8641080" y="54772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Projection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perspective and orthographic</a:t>
            </a:r>
            <a:endParaRPr lang="en-US" sz="15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Decomposition: Vending Machine</a:t>
            </a:r>
            <a:endParaRPr lang="en-US" sz="3200" dirty="0"/>
          </a:p>
        </p:txBody>
      </p:sp>
      <p:pic>
        <p:nvPicPr>
          <p:cNvPr id="3" name="Vending split" descr="C:/Users/Nayeem/Desktop/4-1/image lab/opengl-project/report/figures/split_vend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7589520" cy="4370088"/>
          </a:xfrm>
          <a:prstGeom prst="rect">
            <a:avLst/>
          </a:prstGeom>
        </p:spPr>
      </p:pic>
      <p:sp>
        <p:nvSpPr>
          <p:cNvPr id="4" name="Coffee heading"/>
          <p:cNvSpPr txBox="1"/>
          <p:nvPr/>
        </p:nvSpPr>
        <p:spPr>
          <a:xfrm>
            <a:off x="841248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Coffee machine</a:t>
            </a:r>
            <a:endParaRPr lang="en-US" sz="1400" dirty="0"/>
          </a:p>
        </p:txBody>
      </p:sp>
      <p:pic>
        <p:nvPicPr>
          <p:cNvPr id="5" name="Coffee split" descr="C:/Users/Nayeem/Desktop/4-1/image lab/opengl-project/report/figures/split_coffe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645920"/>
            <a:ext cx="3200400" cy="1807480"/>
          </a:xfrm>
          <a:prstGeom prst="rect">
            <a:avLst/>
          </a:prstGeom>
        </p:spPr>
      </p:pic>
      <p:sp>
        <p:nvSpPr>
          <p:cNvPr id="6" name="Man heading"/>
          <p:cNvSpPr txBox="1"/>
          <p:nvPr/>
        </p:nvSpPr>
        <p:spPr>
          <a:xfrm>
            <a:off x="841248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Man</a:t>
            </a:r>
            <a:endParaRPr lang="en-US" sz="1400" dirty="0"/>
          </a:p>
        </p:txBody>
      </p:sp>
      <p:pic>
        <p:nvPicPr>
          <p:cNvPr id="7" name="Man split" descr="C:/Users/Nayeem/Desktop/4-1/image lab/opengl-project/report/figures/split_human_wal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4251960"/>
            <a:ext cx="2465566" cy="1965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Decomposition: ATM</a:t>
            </a:r>
            <a:endParaRPr lang="en-US" sz="3200" dirty="0"/>
          </a:p>
        </p:txBody>
      </p:sp>
      <p:pic>
        <p:nvPicPr>
          <p:cNvPr id="3" name="ATM split" descr="C:/Users/Nayeem/Desktop/4-1/image lab/opengl-project/report/figures/split_at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82090"/>
            <a:ext cx="5577840" cy="3288180"/>
          </a:xfrm>
          <a:prstGeom prst="rect">
            <a:avLst/>
          </a:prstGeom>
        </p:spPr>
      </p:pic>
      <p:sp>
        <p:nvSpPr>
          <p:cNvPr id="4" name="Car heading"/>
          <p:cNvSpPr txBox="1"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Car</a:t>
            </a:r>
            <a:endParaRPr lang="en-US" sz="1400" dirty="0"/>
          </a:p>
        </p:txBody>
      </p:sp>
      <p:pic>
        <p:nvPicPr>
          <p:cNvPr id="5" name="Car split" descr="C:/Users/Nayeem/Desktop/4-1/image lab/opengl-project/report/figures/split_car_r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45920"/>
            <a:ext cx="5212080" cy="1336188"/>
          </a:xfrm>
          <a:prstGeom prst="rect">
            <a:avLst/>
          </a:prstGeom>
        </p:spPr>
      </p:pic>
      <p:sp>
        <p:nvSpPr>
          <p:cNvPr id="6" name="Tree heading"/>
          <p:cNvSpPr txBox="1"/>
          <p:nvPr/>
        </p:nvSpPr>
        <p:spPr>
          <a:xfrm>
            <a:off x="6400800" y="3611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Rainforest tree</a:t>
            </a:r>
            <a:endParaRPr lang="en-US" sz="1400" dirty="0"/>
          </a:p>
        </p:txBody>
      </p:sp>
      <p:pic>
        <p:nvPicPr>
          <p:cNvPr id="7" name="Tree split" descr="C:/Users/Nayeem/Desktop/4-1/image lab/opengl-project/report/figures/split_tre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977640"/>
            <a:ext cx="3740651" cy="2240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Vending Machine and ATM Work</a:t>
            </a:r>
            <a:endParaRPr lang="en-US" sz="3200" dirty="0"/>
          </a:p>
        </p:txBody>
      </p:sp>
      <p:sp>
        <p:nvSpPr>
          <p:cNvPr id="3" name="Vending card"/>
          <p:cNvSpPr/>
          <p:nvPr/>
        </p:nvSpPr>
        <p:spPr>
          <a:xfrm>
            <a:off x="548640" y="1298448"/>
            <a:ext cx="5440680" cy="4892040"/>
          </a:xfrm>
          <a:prstGeom prst="roundRect">
            <a:avLst>
              <a:gd name="adj" fmla="val 2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Vending heading"/>
          <p:cNvSpPr txBox="1"/>
          <p:nvPr/>
        </p:nvSpPr>
        <p:spPr>
          <a:xfrm>
            <a:off x="77724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Vending machine</a:t>
            </a:r>
            <a:endParaRPr lang="en-US" sz="1700" dirty="0"/>
          </a:p>
        </p:txBody>
      </p:sp>
      <p:pic>
        <p:nvPicPr>
          <p:cNvPr id="5" name="Vending shot 0" descr="C:/Users/Nayeem/Desktop/4-1/image lab/opengl-project/report/figures/play_1_loo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4520"/>
            <a:ext cx="1600200" cy="896112"/>
          </a:xfrm>
          <a:prstGeom prst="rect">
            <a:avLst/>
          </a:prstGeom>
        </p:spPr>
      </p:pic>
      <p:pic>
        <p:nvPicPr>
          <p:cNvPr id="6" name="Vending shot 1" descr="C:/Users/Nayeem/Desktop/4-1/image lab/opengl-project/report/figures/play_4_spir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1874520"/>
            <a:ext cx="1600200" cy="896112"/>
          </a:xfrm>
          <a:prstGeom prst="rect">
            <a:avLst/>
          </a:prstGeom>
        </p:spPr>
      </p:pic>
      <p:pic>
        <p:nvPicPr>
          <p:cNvPr id="7" name="Vending shot 2" descr="C:/Users/Nayeem/Desktop/4-1/image lab/opengl-project/report/figures/play_6_fla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1874520"/>
            <a:ext cx="1600200" cy="896112"/>
          </a:xfrm>
          <a:prstGeom prst="rect">
            <a:avLst/>
          </a:prstGeom>
        </p:spPr>
      </p:pic>
      <p:sp>
        <p:nvSpPr>
          <p:cNvPr id="8" name="Vending step 0"/>
          <p:cNvSpPr/>
          <p:nvPr/>
        </p:nvSpPr>
        <p:spPr>
          <a:xfrm>
            <a:off x="777240" y="3017520"/>
            <a:ext cx="23317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Vending step 0 text"/>
          <p:cNvSpPr txBox="1"/>
          <p:nvPr/>
        </p:nvSpPr>
        <p:spPr>
          <a:xfrm>
            <a:off x="822960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Insert coin / note</a:t>
            </a:r>
            <a:endParaRPr lang="en-US" sz="1200" dirty="0"/>
          </a:p>
        </p:txBody>
      </p:sp>
      <p:sp>
        <p:nvSpPr>
          <p:cNvPr id="10" name="Vending arrow 0"/>
          <p:cNvSpPr/>
          <p:nvPr/>
        </p:nvSpPr>
        <p:spPr>
          <a:xfrm>
            <a:off x="1943100" y="3474720"/>
            <a:ext cx="0" cy="14630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Vending step 1"/>
          <p:cNvSpPr/>
          <p:nvPr/>
        </p:nvSpPr>
        <p:spPr>
          <a:xfrm>
            <a:off x="777240" y="3621024"/>
            <a:ext cx="23317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Vending step 1 text"/>
          <p:cNvSpPr txBox="1"/>
          <p:nvPr/>
        </p:nvSpPr>
        <p:spPr>
          <a:xfrm>
            <a:off x="822960" y="362102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Type code + OK</a:t>
            </a:r>
            <a:endParaRPr lang="en-US" sz="1200" dirty="0"/>
          </a:p>
        </p:txBody>
      </p:sp>
      <p:sp>
        <p:nvSpPr>
          <p:cNvPr id="13" name="Vending arrow 1"/>
          <p:cNvSpPr/>
          <p:nvPr/>
        </p:nvSpPr>
        <p:spPr>
          <a:xfrm>
            <a:off x="1943100" y="4078224"/>
            <a:ext cx="0" cy="14630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Vending step 2"/>
          <p:cNvSpPr/>
          <p:nvPr/>
        </p:nvSpPr>
        <p:spPr>
          <a:xfrm>
            <a:off x="777240" y="4224528"/>
            <a:ext cx="23317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Vending step 2 text"/>
          <p:cNvSpPr txBox="1"/>
          <p:nvPr/>
        </p:nvSpPr>
        <p:spPr>
          <a:xfrm>
            <a:off x="822960" y="42245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Spiral turns 360°</a:t>
            </a:r>
            <a:endParaRPr lang="en-US" sz="1200" dirty="0"/>
          </a:p>
        </p:txBody>
      </p:sp>
      <p:sp>
        <p:nvSpPr>
          <p:cNvPr id="16" name="Vending arrow 2"/>
          <p:cNvSpPr/>
          <p:nvPr/>
        </p:nvSpPr>
        <p:spPr>
          <a:xfrm>
            <a:off x="1943100" y="4681728"/>
            <a:ext cx="0" cy="14630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Vending step 3"/>
          <p:cNvSpPr/>
          <p:nvPr/>
        </p:nvSpPr>
        <p:spPr>
          <a:xfrm>
            <a:off x="777240" y="4828032"/>
            <a:ext cx="23317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Vending step 3 text"/>
          <p:cNvSpPr txBox="1"/>
          <p:nvPr/>
        </p:nvSpPr>
        <p:spPr>
          <a:xfrm>
            <a:off x="822960" y="48280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Item falls, bounces</a:t>
            </a:r>
            <a:endParaRPr lang="en-US" sz="1200" dirty="0"/>
          </a:p>
        </p:txBody>
      </p:sp>
      <p:sp>
        <p:nvSpPr>
          <p:cNvPr id="19" name="Vending arrow 3"/>
          <p:cNvSpPr/>
          <p:nvPr/>
        </p:nvSpPr>
        <p:spPr>
          <a:xfrm>
            <a:off x="1943100" y="5285232"/>
            <a:ext cx="0" cy="14630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Vending step 4"/>
          <p:cNvSpPr/>
          <p:nvPr/>
        </p:nvSpPr>
        <p:spPr>
          <a:xfrm>
            <a:off x="777240" y="5431536"/>
            <a:ext cx="233172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Vending step 4 text"/>
          <p:cNvSpPr txBox="1"/>
          <p:nvPr/>
        </p:nvSpPr>
        <p:spPr>
          <a:xfrm>
            <a:off x="822960" y="543153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Push flap: item to bag</a:t>
            </a:r>
            <a:endParaRPr lang="en-US" sz="1200" dirty="0"/>
          </a:p>
        </p:txBody>
      </p:sp>
      <p:sp>
        <p:nvSpPr>
          <p:cNvPr id="22" name="Vending facts"/>
          <p:cNvSpPr txBox="1"/>
          <p:nvPr/>
        </p:nvSpPr>
        <p:spPr>
          <a:xfrm>
            <a:off x="3291840" y="3017520"/>
            <a:ext cx="256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States: IDLE → VENDING → DROPPING → READY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Money kept as whole Taka; change falls as coins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Drop: gravity 9.81 m/s², bounce ×0.32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Empty slot refilled after 40 s</a:t>
            </a:r>
            <a:endParaRPr lang="en-US" sz="1300" dirty="0"/>
          </a:p>
        </p:txBody>
      </p:sp>
      <p:sp>
        <p:nvSpPr>
          <p:cNvPr id="23" name="ATM card"/>
          <p:cNvSpPr/>
          <p:nvPr/>
        </p:nvSpPr>
        <p:spPr>
          <a:xfrm>
            <a:off x="6172200" y="1298448"/>
            <a:ext cx="5440680" cy="4892040"/>
          </a:xfrm>
          <a:prstGeom prst="roundRect">
            <a:avLst>
              <a:gd name="adj" fmla="val 2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ATM heading"/>
          <p:cNvSpPr txBox="1"/>
          <p:nvPr/>
        </p:nvSpPr>
        <p:spPr>
          <a:xfrm>
            <a:off x="640080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ATM</a:t>
            </a:r>
            <a:endParaRPr lang="en-US" sz="1700" dirty="0"/>
          </a:p>
        </p:txBody>
      </p:sp>
      <p:pic>
        <p:nvPicPr>
          <p:cNvPr id="25" name="ATM shot 0" descr="C:/Users/Nayeem/Desktop/4-1/image lab/opengl-project/report/figures/atm_2_pi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874520"/>
            <a:ext cx="1600200" cy="896112"/>
          </a:xfrm>
          <a:prstGeom prst="rect">
            <a:avLst/>
          </a:prstGeom>
        </p:spPr>
      </p:pic>
      <p:pic>
        <p:nvPicPr>
          <p:cNvPr id="26" name="ATM shot 1" descr="C:/Users/Nayeem/Desktop/4-1/image lab/opengl-project/report/figures/atm_4_amoun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1874520"/>
            <a:ext cx="1600200" cy="896112"/>
          </a:xfrm>
          <a:prstGeom prst="rect">
            <a:avLst/>
          </a:prstGeom>
        </p:spPr>
      </p:pic>
      <p:pic>
        <p:nvPicPr>
          <p:cNvPr id="27" name="ATM shot 2" descr="C:/Users/Nayeem/Desktop/4-1/image lab/opengl-project/report/figures/atm_7_takecash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4080" y="1874520"/>
            <a:ext cx="1600200" cy="896112"/>
          </a:xfrm>
          <a:prstGeom prst="rect">
            <a:avLst/>
          </a:prstGeom>
        </p:spPr>
      </p:pic>
      <p:sp>
        <p:nvSpPr>
          <p:cNvPr id="28" name="ATM step 0"/>
          <p:cNvSpPr/>
          <p:nvPr/>
        </p:nvSpPr>
        <p:spPr>
          <a:xfrm>
            <a:off x="6400800" y="3017520"/>
            <a:ext cx="23317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ATM step 0 text"/>
          <p:cNvSpPr txBox="1"/>
          <p:nvPr/>
        </p:nvSpPr>
        <p:spPr>
          <a:xfrm>
            <a:off x="6446520" y="3017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1. Insert card</a:t>
            </a:r>
            <a:endParaRPr lang="en-US" sz="1200" dirty="0"/>
          </a:p>
        </p:txBody>
      </p:sp>
      <p:sp>
        <p:nvSpPr>
          <p:cNvPr id="30" name="ATM step 1"/>
          <p:cNvSpPr/>
          <p:nvPr/>
        </p:nvSpPr>
        <p:spPr>
          <a:xfrm>
            <a:off x="6400800" y="3767328"/>
            <a:ext cx="23317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ATM step 1 text"/>
          <p:cNvSpPr txBox="1"/>
          <p:nvPr/>
        </p:nvSpPr>
        <p:spPr>
          <a:xfrm>
            <a:off x="6446520" y="37673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2. PIN 1234</a:t>
            </a:r>
            <a:endParaRPr lang="en-US" sz="1200" dirty="0"/>
          </a:p>
        </p:txBody>
      </p:sp>
      <p:sp>
        <p:nvSpPr>
          <p:cNvPr id="32" name="ATM step 2"/>
          <p:cNvSpPr/>
          <p:nvPr/>
        </p:nvSpPr>
        <p:spPr>
          <a:xfrm>
            <a:off x="6400800" y="4517136"/>
            <a:ext cx="23317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ATM step 2 text"/>
          <p:cNvSpPr txBox="1"/>
          <p:nvPr/>
        </p:nvSpPr>
        <p:spPr>
          <a:xfrm>
            <a:off x="6446520" y="45171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3. Choose service</a:t>
            </a:r>
            <a:endParaRPr lang="en-US" sz="1200" dirty="0"/>
          </a:p>
        </p:txBody>
      </p:sp>
      <p:sp>
        <p:nvSpPr>
          <p:cNvPr id="34" name="ATM step 3"/>
          <p:cNvSpPr/>
          <p:nvPr/>
        </p:nvSpPr>
        <p:spPr>
          <a:xfrm>
            <a:off x="6400800" y="5266944"/>
            <a:ext cx="23317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ATM step 3 text"/>
          <p:cNvSpPr txBox="1"/>
          <p:nvPr/>
        </p:nvSpPr>
        <p:spPr>
          <a:xfrm>
            <a:off x="6446520" y="526694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4. Choose amount</a:t>
            </a:r>
            <a:endParaRPr lang="en-US" sz="1200" dirty="0"/>
          </a:p>
        </p:txBody>
      </p:sp>
      <p:sp>
        <p:nvSpPr>
          <p:cNvPr id="36" name="ATM step 4"/>
          <p:cNvSpPr/>
          <p:nvPr/>
        </p:nvSpPr>
        <p:spPr>
          <a:xfrm>
            <a:off x="8915400" y="3017520"/>
            <a:ext cx="23317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ATM step 4 text"/>
          <p:cNvSpPr txBox="1"/>
          <p:nvPr/>
        </p:nvSpPr>
        <p:spPr>
          <a:xfrm>
            <a:off x="8961120" y="3017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5. Processing</a:t>
            </a:r>
            <a:endParaRPr lang="en-US" sz="1200" dirty="0"/>
          </a:p>
        </p:txBody>
      </p:sp>
      <p:sp>
        <p:nvSpPr>
          <p:cNvPr id="38" name="ATM step 5"/>
          <p:cNvSpPr/>
          <p:nvPr/>
        </p:nvSpPr>
        <p:spPr>
          <a:xfrm>
            <a:off x="8915400" y="3767328"/>
            <a:ext cx="23317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ATM step 5 text"/>
          <p:cNvSpPr txBox="1"/>
          <p:nvPr/>
        </p:nvSpPr>
        <p:spPr>
          <a:xfrm>
            <a:off x="8961120" y="37673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6. Take card</a:t>
            </a:r>
            <a:endParaRPr lang="en-US" sz="1200" dirty="0"/>
          </a:p>
        </p:txBody>
      </p:sp>
      <p:sp>
        <p:nvSpPr>
          <p:cNvPr id="40" name="ATM step 6"/>
          <p:cNvSpPr/>
          <p:nvPr/>
        </p:nvSpPr>
        <p:spPr>
          <a:xfrm>
            <a:off x="8915400" y="4517136"/>
            <a:ext cx="233172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1" name="ATM step 6 text"/>
          <p:cNvSpPr txBox="1"/>
          <p:nvPr/>
        </p:nvSpPr>
        <p:spPr>
          <a:xfrm>
            <a:off x="8961120" y="45171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7. Take cash</a:t>
            </a:r>
            <a:endParaRPr lang="en-US" sz="1200" dirty="0"/>
          </a:p>
        </p:txBody>
      </p:sp>
      <p:sp>
        <p:nvSpPr>
          <p:cNvPr id="42" name="ATM step 7"/>
          <p:cNvSpPr/>
          <p:nvPr/>
        </p:nvSpPr>
        <p:spPr>
          <a:xfrm>
            <a:off x="8915400" y="5266944"/>
            <a:ext cx="23317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ATM step 7 text"/>
          <p:cNvSpPr txBox="1"/>
          <p:nvPr/>
        </p:nvSpPr>
        <p:spPr>
          <a:xfrm>
            <a:off x="8961120" y="526694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8. Take receipt</a:t>
            </a:r>
            <a:endParaRPr lang="en-US" sz="1200" dirty="0"/>
          </a:p>
        </p:txBody>
      </p:sp>
      <p:sp>
        <p:nvSpPr>
          <p:cNvPr id="44" name="ATM note"/>
          <p:cNvSpPr txBox="1"/>
          <p:nvPr/>
        </p:nvSpPr>
        <p:spPr>
          <a:xfrm>
            <a:off x="6400800" y="5806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Card always comes back before the cash; cash goes to the wallet.</a:t>
            </a:r>
            <a:endParaRPr lang="en-US" sz="12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Illumination, Lighting and Shading</a:t>
            </a:r>
            <a:endParaRPr lang="en-US" sz="3200" dirty="0"/>
          </a:p>
        </p:txBody>
      </p:sp>
      <p:sp>
        <p:nvSpPr>
          <p:cNvPr id="4" name="Equation heading"/>
          <p:cNvSpPr txBox="1"/>
          <p:nvPr/>
        </p:nvSpPr>
        <p:spPr>
          <a:xfrm>
            <a:off x="731520" y="1371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Blinn–Phong illumination</a:t>
            </a:r>
            <a:endParaRPr lang="en-US" sz="1300" dirty="0"/>
          </a:p>
        </p:txBody>
      </p:sp>
      <p:sp>
        <p:nvSpPr>
          <p:cNvPr id="6" name="Term dot 0"/>
          <p:cNvSpPr/>
          <p:nvPr/>
        </p:nvSpPr>
        <p:spPr>
          <a:xfrm>
            <a:off x="587795" y="2071116"/>
            <a:ext cx="256032" cy="25603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rm Ambient"/>
          <p:cNvSpPr txBox="1"/>
          <p:nvPr/>
        </p:nvSpPr>
        <p:spPr>
          <a:xfrm>
            <a:off x="999275" y="201625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Ambient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light from everywhere; sky above, ground below</a:t>
            </a:r>
            <a:endParaRPr lang="en-US" sz="1400" dirty="0"/>
          </a:p>
        </p:txBody>
      </p:sp>
      <p:sp>
        <p:nvSpPr>
          <p:cNvPr id="8" name="Term dot 1"/>
          <p:cNvSpPr/>
          <p:nvPr/>
        </p:nvSpPr>
        <p:spPr>
          <a:xfrm>
            <a:off x="587795" y="2692908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rm Diffuse"/>
          <p:cNvSpPr txBox="1"/>
          <p:nvPr/>
        </p:nvSpPr>
        <p:spPr>
          <a:xfrm>
            <a:off x="999275" y="263804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Diffuse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brightness from the angle to the light (Lambert)</a:t>
            </a:r>
            <a:endParaRPr lang="en-US" sz="1400" dirty="0"/>
          </a:p>
        </p:txBody>
      </p:sp>
      <p:sp>
        <p:nvSpPr>
          <p:cNvPr id="10" name="Term dot 2"/>
          <p:cNvSpPr/>
          <p:nvPr/>
        </p:nvSpPr>
        <p:spPr>
          <a:xfrm>
            <a:off x="587795" y="3314700"/>
            <a:ext cx="256032" cy="25603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rm Specular"/>
          <p:cNvSpPr txBox="1"/>
          <p:nvPr/>
        </p:nvSpPr>
        <p:spPr>
          <a:xfrm>
            <a:off x="999275" y="325983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Specular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shiny highlight; moves with the viewer</a:t>
            </a:r>
            <a:endParaRPr lang="en-US" sz="1400" dirty="0"/>
          </a:p>
        </p:txBody>
      </p:sp>
      <p:sp>
        <p:nvSpPr>
          <p:cNvPr id="12" name="Shading heading"/>
          <p:cNvSpPr txBox="1"/>
          <p:nvPr/>
        </p:nvSpPr>
        <p:spPr>
          <a:xfrm>
            <a:off x="484632" y="39364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Phong shading (per pixel)</a:t>
            </a:r>
            <a:endParaRPr lang="en-US" sz="1400" dirty="0"/>
          </a:p>
        </p:txBody>
      </p:sp>
      <p:sp>
        <p:nvSpPr>
          <p:cNvPr id="13" name="Pipe 0"/>
          <p:cNvSpPr/>
          <p:nvPr/>
        </p:nvSpPr>
        <p:spPr>
          <a:xfrm>
            <a:off x="484632" y="4347972"/>
            <a:ext cx="12344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ipe text 0"/>
          <p:cNvSpPr txBox="1"/>
          <p:nvPr/>
        </p:nvSpPr>
        <p:spPr>
          <a:xfrm>
            <a:off x="502920" y="4347972"/>
            <a:ext cx="119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Vertex shader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position, normal</a:t>
            </a:r>
            <a:endParaRPr lang="en-US" sz="1100" dirty="0"/>
          </a:p>
        </p:txBody>
      </p:sp>
      <p:sp>
        <p:nvSpPr>
          <p:cNvPr id="15" name="Pipe arrow 0"/>
          <p:cNvSpPr/>
          <p:nvPr/>
        </p:nvSpPr>
        <p:spPr>
          <a:xfrm>
            <a:off x="1737360" y="4782312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Pipe 1"/>
          <p:cNvSpPr/>
          <p:nvPr/>
        </p:nvSpPr>
        <p:spPr>
          <a:xfrm>
            <a:off x="1947672" y="4347972"/>
            <a:ext cx="12344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Pipe text 1"/>
          <p:cNvSpPr txBox="1"/>
          <p:nvPr/>
        </p:nvSpPr>
        <p:spPr>
          <a:xfrm>
            <a:off x="1965960" y="4347972"/>
            <a:ext cx="119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Rasteriser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interpolate</a:t>
            </a:r>
            <a:endParaRPr lang="en-US" sz="1100" dirty="0"/>
          </a:p>
        </p:txBody>
      </p:sp>
      <p:sp>
        <p:nvSpPr>
          <p:cNvPr id="18" name="Pipe arrow 1"/>
          <p:cNvSpPr/>
          <p:nvPr/>
        </p:nvSpPr>
        <p:spPr>
          <a:xfrm>
            <a:off x="3200400" y="4782312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Pipe 2"/>
          <p:cNvSpPr/>
          <p:nvPr/>
        </p:nvSpPr>
        <p:spPr>
          <a:xfrm>
            <a:off x="3410712" y="4347972"/>
            <a:ext cx="12344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Pipe text 2"/>
          <p:cNvSpPr txBox="1"/>
          <p:nvPr/>
        </p:nvSpPr>
        <p:spPr>
          <a:xfrm>
            <a:off x="3429000" y="4347972"/>
            <a:ext cx="119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Fragment shader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light per pixel</a:t>
            </a:r>
            <a:endParaRPr lang="en-US" sz="1100" dirty="0"/>
          </a:p>
        </p:txBody>
      </p:sp>
      <p:sp>
        <p:nvSpPr>
          <p:cNvPr id="21" name="Light types"/>
          <p:cNvSpPr txBox="1"/>
          <p:nvPr/>
        </p:nvSpPr>
        <p:spPr>
          <a:xfrm>
            <a:off x="548640" y="5852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Lights: sun / moon · point · spot · emissive · ambient</a:t>
            </a:r>
            <a:endParaRPr lang="en-US" sz="1200" dirty="0"/>
          </a:p>
        </p:txBody>
      </p:sp>
      <p:pic>
        <p:nvPicPr>
          <p:cNvPr id="22" name="Light pic 0" descr="C:/Users/Nayeem/Desktop/4-1/image lab/opengl-project/report/figures/lounge_n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298448"/>
            <a:ext cx="3200400" cy="1801368"/>
          </a:xfrm>
          <a:prstGeom prst="rect">
            <a:avLst/>
          </a:prstGeom>
        </p:spPr>
      </p:pic>
      <p:sp>
        <p:nvSpPr>
          <p:cNvPr id="23" name="Light caption 0"/>
          <p:cNvSpPr txBox="1"/>
          <p:nvPr/>
        </p:nvSpPr>
        <p:spPr>
          <a:xfrm>
            <a:off x="5029200" y="31272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Point + spot lights on</a:t>
            </a:r>
            <a:endParaRPr lang="en-US" sz="1100" dirty="0"/>
          </a:p>
        </p:txBody>
      </p:sp>
      <p:pic>
        <p:nvPicPr>
          <p:cNvPr id="24" name="Light pic 1" descr="C:/Users/Nayeem/Desktop/4-1/image lab/opengl-project/report/figures/lounge_night_lamps_of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298448"/>
            <a:ext cx="3200400" cy="1801368"/>
          </a:xfrm>
          <a:prstGeom prst="rect">
            <a:avLst/>
          </a:prstGeom>
        </p:spPr>
      </p:pic>
      <p:sp>
        <p:nvSpPr>
          <p:cNvPr id="25" name="Light caption 1"/>
          <p:cNvSpPr txBox="1"/>
          <p:nvPr/>
        </p:nvSpPr>
        <p:spPr>
          <a:xfrm>
            <a:off x="8366760" y="31272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Lamps off: only glow and moon</a:t>
            </a:r>
            <a:endParaRPr lang="en-US" sz="1100" dirty="0"/>
          </a:p>
        </p:txBody>
      </p:sp>
      <p:pic>
        <p:nvPicPr>
          <p:cNvPr id="26" name="Light pic 2" descr="C:/Users/Nayeem/Desktop/4-1/image lab/opengl-project/report/figures/ext_da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767328"/>
            <a:ext cx="3200400" cy="1801368"/>
          </a:xfrm>
          <a:prstGeom prst="rect">
            <a:avLst/>
          </a:prstGeom>
        </p:spPr>
      </p:pic>
      <p:sp>
        <p:nvSpPr>
          <p:cNvPr id="27" name="Light caption 2"/>
          <p:cNvSpPr txBox="1"/>
          <p:nvPr/>
        </p:nvSpPr>
        <p:spPr>
          <a:xfrm>
            <a:off x="5029200" y="55961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Shadow mapping on</a:t>
            </a:r>
            <a:endParaRPr lang="en-US" sz="1100" dirty="0"/>
          </a:p>
        </p:txBody>
      </p:sp>
      <p:pic>
        <p:nvPicPr>
          <p:cNvPr id="28" name="Light pic 3" descr="C:/Users/Nayeem/Desktop/4-1/image lab/opengl-project/report/figures/ext_day_noshadow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3767328"/>
            <a:ext cx="3200400" cy="1801368"/>
          </a:xfrm>
          <a:prstGeom prst="rect">
            <a:avLst/>
          </a:prstGeom>
        </p:spPr>
      </p:pic>
      <p:sp>
        <p:nvSpPr>
          <p:cNvPr id="29" name="Light caption 3"/>
          <p:cNvSpPr txBox="1"/>
          <p:nvPr/>
        </p:nvSpPr>
        <p:spPr>
          <a:xfrm>
            <a:off x="8366760" y="55961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Shadows off</a:t>
            </a:r>
            <a:endParaRPr lang="en-US" sz="11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Textures and Bézier Car Parking</a:t>
            </a:r>
            <a:endParaRPr lang="en-US" sz="3200" dirty="0"/>
          </a:p>
        </p:txBody>
      </p:sp>
      <p:sp>
        <p:nvSpPr>
          <p:cNvPr id="3" name="Texture heading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25 procedural textures</a:t>
            </a:r>
            <a:endParaRPr lang="en-US" sz="1500" dirty="0"/>
          </a:p>
        </p:txBody>
      </p:sp>
      <p:pic>
        <p:nvPicPr>
          <p:cNvPr id="4" name="Texture grid" descr="C:/Users/Nayeem/Desktop/4-1/image lab/opengl-project/report/figures/textur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3246120" cy="3613605"/>
          </a:xfrm>
          <a:prstGeom prst="rect">
            <a:avLst/>
          </a:prstGeom>
        </p:spPr>
      </p:pic>
      <p:pic>
        <p:nvPicPr>
          <p:cNvPr id="5" name="Without textures" descr="C:/Users/Nayeem/Desktop/4-1/image lab/opengl-project/report/figures/ext_day_notex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691640"/>
            <a:ext cx="2103120" cy="1179576"/>
          </a:xfrm>
          <a:prstGeom prst="rect">
            <a:avLst/>
          </a:prstGeom>
        </p:spPr>
      </p:pic>
      <p:sp>
        <p:nvSpPr>
          <p:cNvPr id="6" name="Caption notex"/>
          <p:cNvSpPr txBox="1"/>
          <p:nvPr/>
        </p:nvSpPr>
        <p:spPr>
          <a:xfrm>
            <a:off x="3977640" y="28895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without textures</a:t>
            </a:r>
            <a:endParaRPr lang="en-US" sz="1100" dirty="0"/>
          </a:p>
        </p:txBody>
      </p:sp>
      <p:pic>
        <p:nvPicPr>
          <p:cNvPr id="7" name="With textures" descr="C:/Users/Nayeem/Desktop/4-1/image lab/opengl-project/report/figures/ext_da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3291840"/>
            <a:ext cx="2103120" cy="1179576"/>
          </a:xfrm>
          <a:prstGeom prst="rect">
            <a:avLst/>
          </a:prstGeom>
        </p:spPr>
      </p:pic>
      <p:sp>
        <p:nvSpPr>
          <p:cNvPr id="8" name="Caption tex"/>
          <p:cNvSpPr txBox="1"/>
          <p:nvPr/>
        </p:nvSpPr>
        <p:spPr>
          <a:xfrm>
            <a:off x="3977640" y="44897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with textures (box mapping)</a:t>
            </a:r>
            <a:endParaRPr lang="en-US" sz="1100" dirty="0"/>
          </a:p>
        </p:txBody>
      </p:sp>
      <p:sp>
        <p:nvSpPr>
          <p:cNvPr id="9" name="Bezier heading"/>
          <p:cNvSpPr txBox="1"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Parking along a cubic Bézier curve</a:t>
            </a:r>
            <a:endParaRPr lang="en-US" sz="1500" dirty="0"/>
          </a:p>
        </p:txBody>
      </p:sp>
      <p:pic>
        <p:nvPicPr>
          <p:cNvPr id="10" name="Bezier diagram" descr="C:\Users\Nayeem\AppData\Local\Temp\claude\C--Users-Nayeem-Desktop-4-1-image-lab-opengl-project\6ae5ff8c-eb33-4098-ae03-b0630aa742b0\scratchpad\deck/assets/bezi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691640"/>
            <a:ext cx="4528457" cy="2971800"/>
          </a:xfrm>
          <a:prstGeom prst="rect">
            <a:avLst/>
          </a:prstGeom>
        </p:spPr>
      </p:pic>
      <p:sp>
        <p:nvSpPr>
          <p:cNvPr id="11" name="Bezier equation"/>
          <p:cNvSpPr txBox="1"/>
          <p:nvPr/>
        </p:nvSpPr>
        <p:spPr>
          <a:xfrm>
            <a:off x="6400800" y="4800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B(t) = (1−t)³P0 + 3(1−t)²t P1 + 3(1−t)t² P2 + t³P3</a:t>
            </a:r>
            <a:endParaRPr lang="en-US" sz="1500" dirty="0"/>
          </a:p>
        </p:txBody>
      </p:sp>
      <p:sp>
        <p:nvSpPr>
          <p:cNvPr id="12" name="Bezier points"/>
          <p:cNvSpPr txBox="1"/>
          <p:nvPr/>
        </p:nvSpPr>
        <p:spPr>
          <a:xfrm>
            <a:off x="6400800" y="52578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P0→P1 along the aisle, P2→P3 into the spot: the turn is smooth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leaving: a second curve driven in reverse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NPC and Object Behaviour</a:t>
            </a:r>
            <a:endParaRPr lang="en-US" sz="3200" dirty="0"/>
          </a:p>
        </p:txBody>
      </p:sp>
      <p:sp>
        <p:nvSpPr>
          <p:cNvPr id="3" name="Visitor card"/>
          <p:cNvSpPr/>
          <p:nvPr/>
        </p:nvSpPr>
        <p:spPr>
          <a:xfrm>
            <a:off x="548640" y="1298448"/>
            <a:ext cx="5532120" cy="4892040"/>
          </a:xfrm>
          <a:prstGeom prst="roundRect">
            <a:avLst>
              <a:gd name="adj" fmla="val 2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Visitor heading"/>
          <p:cNvSpPr txBox="1"/>
          <p:nvPr/>
        </p:nvSpPr>
        <p:spPr>
          <a:xfrm>
            <a:off x="77724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Visitors (person + car)</a:t>
            </a:r>
            <a:endParaRPr lang="en-US" sz="1700" dirty="0"/>
          </a:p>
        </p:txBody>
      </p:sp>
      <p:pic>
        <p:nvPicPr>
          <p:cNvPr id="5" name="Visitor parking" descr="C:/Users/Nayeem/Desktop/4-1/image lab/opengl-project/report/figures/parking_l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2514600" cy="1417320"/>
          </a:xfrm>
          <a:prstGeom prst="rect">
            <a:avLst/>
          </a:prstGeom>
        </p:spPr>
      </p:pic>
      <p:pic>
        <p:nvPicPr>
          <p:cNvPr id="6" name="Visitor inside" descr="C:/Users/Nayeem/Desktop/4-1/image lab/opengl-project/report/figures/visitors_insid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828800"/>
            <a:ext cx="2514600" cy="1417320"/>
          </a:xfrm>
          <a:prstGeom prst="rect">
            <a:avLst/>
          </a:prstGeom>
        </p:spPr>
      </p:pic>
      <p:sp>
        <p:nvSpPr>
          <p:cNvPr id="7" name="Visitor flow 0"/>
          <p:cNvSpPr/>
          <p:nvPr/>
        </p:nvSpPr>
        <p:spPr>
          <a:xfrm>
            <a:off x="777240" y="3429000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Visitor flow 0 text"/>
          <p:cNvSpPr txBox="1"/>
          <p:nvPr/>
        </p:nvSpPr>
        <p:spPr>
          <a:xfrm>
            <a:off x="822960" y="34290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Drive in</a:t>
            </a:r>
            <a:endParaRPr lang="en-US" sz="1200" dirty="0"/>
          </a:p>
        </p:txBody>
      </p:sp>
      <p:sp>
        <p:nvSpPr>
          <p:cNvPr id="9" name="Visitor flow 1"/>
          <p:cNvSpPr/>
          <p:nvPr/>
        </p:nvSpPr>
        <p:spPr>
          <a:xfrm>
            <a:off x="1801368" y="3429000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Visitor flow 1 text"/>
          <p:cNvSpPr txBox="1"/>
          <p:nvPr/>
        </p:nvSpPr>
        <p:spPr>
          <a:xfrm>
            <a:off x="1847088" y="34290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Park (Bézier)</a:t>
            </a:r>
            <a:endParaRPr lang="en-US" sz="1200" dirty="0"/>
          </a:p>
        </p:txBody>
      </p:sp>
      <p:sp>
        <p:nvSpPr>
          <p:cNvPr id="11" name="Visitor flow 2"/>
          <p:cNvSpPr/>
          <p:nvPr/>
        </p:nvSpPr>
        <p:spPr>
          <a:xfrm>
            <a:off x="2825496" y="3429000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Visitor flow 2 text"/>
          <p:cNvSpPr txBox="1"/>
          <p:nvPr/>
        </p:nvSpPr>
        <p:spPr>
          <a:xfrm>
            <a:off x="2871216" y="34290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Walk (Dijkstra)</a:t>
            </a:r>
            <a:endParaRPr lang="en-US" sz="1200" dirty="0"/>
          </a:p>
        </p:txBody>
      </p:sp>
      <p:sp>
        <p:nvSpPr>
          <p:cNvPr id="13" name="Visitor flow 3"/>
          <p:cNvSpPr/>
          <p:nvPr/>
        </p:nvSpPr>
        <p:spPr>
          <a:xfrm>
            <a:off x="3849624" y="3429000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Visitor flow 3 text"/>
          <p:cNvSpPr txBox="1"/>
          <p:nvPr/>
        </p:nvSpPr>
        <p:spPr>
          <a:xfrm>
            <a:off x="3895344" y="34290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Use / sit / read</a:t>
            </a:r>
            <a:endParaRPr lang="en-US" sz="1200" dirty="0"/>
          </a:p>
        </p:txBody>
      </p:sp>
      <p:sp>
        <p:nvSpPr>
          <p:cNvPr id="15" name="Visitor flow 4"/>
          <p:cNvSpPr/>
          <p:nvPr/>
        </p:nvSpPr>
        <p:spPr>
          <a:xfrm>
            <a:off x="4873752" y="3429000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Visitor flow 4 text"/>
          <p:cNvSpPr txBox="1"/>
          <p:nvPr/>
        </p:nvSpPr>
        <p:spPr>
          <a:xfrm>
            <a:off x="4919472" y="34290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Leave</a:t>
            </a:r>
            <a:endParaRPr lang="en-US" sz="1200" dirty="0"/>
          </a:p>
        </p:txBody>
      </p:sp>
      <p:sp>
        <p:nvSpPr>
          <p:cNvPr id="17" name="Visitor data"/>
          <p:cNvSpPr txBox="1"/>
          <p:nvPr/>
        </p:nvSpPr>
        <p:spPr>
          <a:xfrm>
            <a:off x="777240" y="416052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up to 6 visitors; a new car every 8–18 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car: 9 m/s road, 4 m/s lot, 1.8 m/s parking; stops 7.5 m behind cars, 5.5 m before people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person: 1.35 m/s on a graph of 18 nodes, 22 edges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1–3 activities: vending, coffee, ATM, TV, reading, fish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machines and seats are reserved first; one car parks at a time</a:t>
            </a:r>
            <a:endParaRPr lang="en-US" sz="1200" dirty="0"/>
          </a:p>
        </p:txBody>
      </p:sp>
      <p:sp>
        <p:nvSpPr>
          <p:cNvPr id="18" name="Behaviour card Fish"/>
          <p:cNvSpPr/>
          <p:nvPr/>
        </p:nvSpPr>
        <p:spPr>
          <a:xfrm>
            <a:off x="6263640" y="1298448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ehaviour heading Fish"/>
          <p:cNvSpPr txBox="1"/>
          <p:nvPr/>
        </p:nvSpPr>
        <p:spPr>
          <a:xfrm>
            <a:off x="6400800" y="1389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Fish</a:t>
            </a:r>
            <a:endParaRPr lang="en-US" sz="1400" dirty="0"/>
          </a:p>
        </p:txBody>
      </p:sp>
      <p:pic>
        <p:nvPicPr>
          <p:cNvPr id="20" name="Behaviour image Fish" descr="C:/Users/Nayeem/Desktop/4-1/image lab/opengl-project/report/figures/aquarium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2184" y="1755648"/>
            <a:ext cx="1708951" cy="960120"/>
          </a:xfrm>
          <a:prstGeom prst="rect">
            <a:avLst/>
          </a:prstGeom>
        </p:spPr>
      </p:pic>
      <p:sp>
        <p:nvSpPr>
          <p:cNvPr id="21" name="Behaviour data Fish"/>
          <p:cNvSpPr txBox="1"/>
          <p:nvPr/>
        </p:nvSpPr>
        <p:spPr>
          <a:xfrm>
            <a:off x="6400800" y="2779776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7 fish on ellipses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tail wags ±25°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swim up to food (12 crumbs)</a:t>
            </a:r>
            <a:endParaRPr lang="en-US" sz="1100" dirty="0"/>
          </a:p>
        </p:txBody>
      </p:sp>
      <p:sp>
        <p:nvSpPr>
          <p:cNvPr id="22" name="Behaviour card Birds"/>
          <p:cNvSpPr/>
          <p:nvPr/>
        </p:nvSpPr>
        <p:spPr>
          <a:xfrm>
            <a:off x="8961120" y="1298448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Behaviour heading Birds"/>
          <p:cNvSpPr txBox="1"/>
          <p:nvPr/>
        </p:nvSpPr>
        <p:spPr>
          <a:xfrm>
            <a:off x="9098280" y="1389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Birds</a:t>
            </a:r>
            <a:endParaRPr lang="en-US" sz="1400" dirty="0"/>
          </a:p>
        </p:txBody>
      </p:sp>
      <p:pic>
        <p:nvPicPr>
          <p:cNvPr id="24" name="Behaviour image Birds" descr="C:\Users\Nayeem\AppData\Local\Temp\claude\C--Users-Nayeem-Desktop-4-1-image-lab-opengl-project\6ae5ff8c-eb33-4098-ae03-b0630aa742b0\scratchpad\deck/assets/bir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8008" y="1755648"/>
            <a:ext cx="2112264" cy="960120"/>
          </a:xfrm>
          <a:prstGeom prst="rect">
            <a:avLst/>
          </a:prstGeom>
        </p:spPr>
      </p:pic>
      <p:sp>
        <p:nvSpPr>
          <p:cNvPr id="25" name="Behaviour data Birds"/>
          <p:cNvSpPr txBox="1"/>
          <p:nvPr/>
        </p:nvSpPr>
        <p:spPr>
          <a:xfrm>
            <a:off x="9098280" y="2779776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9 birds on circles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radius 10–28 m, 16–30 m high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wings flap ±35°</a:t>
            </a:r>
            <a:endParaRPr lang="en-US" sz="1100" dirty="0"/>
          </a:p>
        </p:txBody>
      </p:sp>
      <p:sp>
        <p:nvSpPr>
          <p:cNvPr id="26" name="Behaviour card Fireflies"/>
          <p:cNvSpPr/>
          <p:nvPr/>
        </p:nvSpPr>
        <p:spPr>
          <a:xfrm>
            <a:off x="6263640" y="3785616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Behaviour heading Fireflies"/>
          <p:cNvSpPr txBox="1"/>
          <p:nvPr/>
        </p:nvSpPr>
        <p:spPr>
          <a:xfrm>
            <a:off x="6400800" y="38770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Fireflies</a:t>
            </a:r>
            <a:endParaRPr lang="en-US" sz="1400" dirty="0"/>
          </a:p>
        </p:txBody>
      </p:sp>
      <p:pic>
        <p:nvPicPr>
          <p:cNvPr id="28" name="Behaviour image Fireflies" descr="C:/Users/Nayeem/Desktop/4-1/image lab/opengl-project/report/figures/parking_nigh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2184" y="4242816"/>
            <a:ext cx="1708951" cy="960120"/>
          </a:xfrm>
          <a:prstGeom prst="rect">
            <a:avLst/>
          </a:prstGeom>
        </p:spPr>
      </p:pic>
      <p:sp>
        <p:nvSpPr>
          <p:cNvPr id="29" name="Behaviour data Fireflies"/>
          <p:cNvSpPr txBox="1"/>
          <p:nvPr/>
        </p:nvSpPr>
        <p:spPr>
          <a:xfrm>
            <a:off x="6400800" y="5266944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110 glowing spheres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night only, outdoors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blink, drift near the camera</a:t>
            </a:r>
            <a:endParaRPr lang="en-US" sz="1100" dirty="0"/>
          </a:p>
        </p:txBody>
      </p:sp>
      <p:sp>
        <p:nvSpPr>
          <p:cNvPr id="30" name="Behaviour card Doors and devices"/>
          <p:cNvSpPr/>
          <p:nvPr/>
        </p:nvSpPr>
        <p:spPr>
          <a:xfrm>
            <a:off x="8961120" y="3785616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Behaviour heading Doors and devices"/>
          <p:cNvSpPr txBox="1"/>
          <p:nvPr/>
        </p:nvSpPr>
        <p:spPr>
          <a:xfrm>
            <a:off x="9098280" y="38770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Doors and devices</a:t>
            </a:r>
            <a:endParaRPr lang="en-US" sz="1400" dirty="0"/>
          </a:p>
        </p:txBody>
      </p:sp>
      <p:pic>
        <p:nvPicPr>
          <p:cNvPr id="32" name="Behaviour image Doors and devices" descr="C:/Users/Nayeem/Desktop/4-1/image lab/opengl-project/report/figures/play_doo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9664" y="4242816"/>
            <a:ext cx="1708951" cy="960120"/>
          </a:xfrm>
          <a:prstGeom prst="rect">
            <a:avLst/>
          </a:prstGeom>
        </p:spPr>
      </p:pic>
      <p:sp>
        <p:nvSpPr>
          <p:cNvPr id="33" name="Behaviour data Doors and devices"/>
          <p:cNvSpPr txBox="1"/>
          <p:nvPr/>
        </p:nvSpPr>
        <p:spPr>
          <a:xfrm>
            <a:off x="9098280" y="5266944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doors open within 2.2 × 2.8 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camera pans ±30°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clocks show game time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 you"/>
          <p:cNvSpPr txBox="1"/>
          <p:nvPr/>
        </p:nvSpPr>
        <p:spPr>
          <a:xfrm>
            <a:off x="548640" y="265176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ungle Rest Stop">
  <a:themeElements>
    <a:clrScheme name="Jungle Rest Stop">
      <a:dk1>
        <a:srgbClr val="1B2A22"/>
      </a:dk1>
      <a:lt1>
        <a:srgbClr val="FFFFFF"/>
      </a:lt1>
      <a:dk2>
        <a:srgbClr val="0E2419"/>
      </a:dk2>
      <a:lt2>
        <a:srgbClr val="EEF4EC"/>
      </a:lt2>
      <a:accent1>
        <a:srgbClr val="1F5A3A"/>
      </a:accent1>
      <a:accent2>
        <a:srgbClr val="6FA543"/>
      </a:accent2>
      <a:accent3>
        <a:srgbClr val="F2C14E"/>
      </a:accent3>
      <a:accent4>
        <a:srgbClr val="B4532F"/>
      </a:accent4>
      <a:accent5>
        <a:srgbClr val="5A6B60"/>
      </a:accent5>
      <a:accent6>
        <a:srgbClr val="2E7D6B"/>
      </a:accent6>
      <a:hlink>
        <a:srgbClr val="1F5A3A"/>
      </a:hlink>
      <a:folHlink>
        <a:srgbClr val="6FA543"/>
      </a:folHlink>
    </a:clrScheme>
    <a:fontScheme name="Jungle Rest Sto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1404</Words>
  <Application>Microsoft Office PowerPoint</Application>
  <PresentationFormat>Widescreen</PresentationFormat>
  <Paragraphs>156</Paragraphs>
  <Slides>10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Jungle Rest Stop</vt:lpstr>
      <vt:lpstr>PowerPoint Presentation</vt:lpstr>
      <vt:lpstr>PowerPoint Presentation</vt:lpstr>
      <vt:lpstr>Basic Shapes and Transformations</vt:lpstr>
      <vt:lpstr>Decomposition: Vending Machine</vt:lpstr>
      <vt:lpstr>Decomposition: ATM</vt:lpstr>
      <vt:lpstr>How the Vending Machine and ATM Work</vt:lpstr>
      <vt:lpstr>Illumination, Lighting and Shading</vt:lpstr>
      <vt:lpstr>Textures and Bézier Car Parking</vt:lpstr>
      <vt:lpstr>NPC and Object Behaviour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Jungle Rest Stop</dc:title>
  <dc:subject>CSE 4102 Computer Graphics project</dc:subject>
  <dc:creator>Md. Nayeem</dc:creator>
  <cp:lastModifiedBy>Md Nayeem</cp:lastModifiedBy>
  <cp:revision>2</cp:revision>
  <dcterms:created xsi:type="dcterms:W3CDTF">2026-10-11T16:35:20Z</dcterms:created>
  <dcterms:modified xsi:type="dcterms:W3CDTF">2026-10-12T08:02:26Z</dcterms:modified>
</cp:coreProperties>
</file>